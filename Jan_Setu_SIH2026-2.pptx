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hyperlink" Target="https://github.com/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10" Type="http://schemas.openxmlformats.org/officeDocument/2006/relationships/image" Target="../media/image-3-9.png"/><Relationship Id="rId11" Type="http://schemas.openxmlformats.org/officeDocument/2006/relationships/image" Target="../media/image-3-10.png"/><Relationship Id="rId12" Type="http://schemas.openxmlformats.org/officeDocument/2006/relationships/image" Target="../media/image-3-11.png"/><Relationship Id="rId13" Type="http://schemas.openxmlformats.org/officeDocument/2006/relationships/image" Target="../media/image-3-12.png"/><Relationship Id="rId14" Type="http://schemas.openxmlformats.org/officeDocument/2006/relationships/image" Target="../media/image-3-13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063" y="669873"/>
            <a:ext cx="5911632" cy="552645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723854" y="5124531"/>
            <a:ext cx="1674683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9796898" y="5124531"/>
            <a:ext cx="2160342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36380" y="502405"/>
            <a:ext cx="5861392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 •   TITLE PAGE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636380" y="921076"/>
            <a:ext cx="5358987" cy="92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Setu</a:t>
            </a:r>
            <a:endParaRPr lang="en-US" sz="6200" dirty="0"/>
          </a:p>
        </p:txBody>
      </p:sp>
      <p:sp>
        <p:nvSpPr>
          <p:cNvPr id="7" name="Text 4"/>
          <p:cNvSpPr txBox="1"/>
          <p:nvPr/>
        </p:nvSpPr>
        <p:spPr>
          <a:xfrm>
            <a:off x="636380" y="1884019"/>
            <a:ext cx="5358987" cy="586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9A33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जन सेतु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36380" y="2612506"/>
            <a:ext cx="5861392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Counter for Every Government Task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36380" y="2997683"/>
            <a:ext cx="5861392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bridge between citizens and government services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6380" y="3608943"/>
            <a:ext cx="5484588" cy="2679493"/>
          </a:xfrm>
          <a:prstGeom prst="roundRect">
            <a:avLst>
              <a:gd name="adj" fmla="val 5119"/>
            </a:avLst>
          </a:prstGeom>
          <a:solidFill>
            <a:srgbClr val="15286B"/>
          </a:solidFill>
          <a:ln w="12700">
            <a:solidFill>
              <a:srgbClr val="1528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0835" y="3751291"/>
            <a:ext cx="2009620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9B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3014430" y="3751291"/>
            <a:ext cx="2930696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Innovation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70835" y="4136468"/>
            <a:ext cx="2009620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9B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3014430" y="4136468"/>
            <a:ext cx="2930696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Setu — One Counter for Every Government Task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70835" y="4588633"/>
            <a:ext cx="2009620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9B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3014430" y="4588633"/>
            <a:ext cx="2930696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REGISTERED THEME]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70835" y="4957063"/>
            <a:ext cx="2009620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9B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3014430" y="4957063"/>
            <a:ext cx="2930696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70835" y="5358987"/>
            <a:ext cx="2009620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9B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3014430" y="5358987"/>
            <a:ext cx="2930696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TEAM ID]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70835" y="5727417"/>
            <a:ext cx="2009620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9B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3014430" y="5727417"/>
            <a:ext cx="2930696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OVERDRIVE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636380" y="6497772"/>
            <a:ext cx="3349367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©SIH Idea submission  • 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272" y="368430"/>
            <a:ext cx="5861392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PROPOSED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4272" y="669873"/>
            <a:ext cx="7536075" cy="55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SETU: THE CITIZEN BRIDGE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4272" y="1256013"/>
            <a:ext cx="8373417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AI-driven bridge that turns a citizen's need into a tracked government action.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01904" y="452165"/>
            <a:ext cx="1381614" cy="334937"/>
          </a:xfrm>
          <a:prstGeom prst="roundRect">
            <a:avLst>
              <a:gd name="adj" fmla="val 54601"/>
            </a:avLst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01904" y="452165"/>
            <a:ext cx="1381614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OVERDRIVE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67252" y="452165"/>
            <a:ext cx="1071797" cy="334937"/>
          </a:xfrm>
          <a:prstGeom prst="roundRect">
            <a:avLst>
              <a:gd name="adj" fmla="val 54601"/>
            </a:avLst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7252" y="452165"/>
            <a:ext cx="1071797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4272" y="1808658"/>
            <a:ext cx="2562266" cy="2009620"/>
          </a:xfrm>
          <a:prstGeom prst="roundRect">
            <a:avLst>
              <a:gd name="adj" fmla="val 54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8728" y="2034740"/>
            <a:ext cx="586139" cy="586139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985" y="2192998"/>
            <a:ext cx="269624" cy="26962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218956" y="2059861"/>
            <a:ext cx="669873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9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78728" y="2796721"/>
            <a:ext cx="2093354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SCHEME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8728" y="3064671"/>
            <a:ext cx="2093354" cy="703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your need by voice or text. Get eligible schemes and the next steps.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82860" y="1808658"/>
            <a:ext cx="2562266" cy="2009620"/>
          </a:xfrm>
          <a:prstGeom prst="roundRect">
            <a:avLst>
              <a:gd name="adj" fmla="val 54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17316" y="2034740"/>
            <a:ext cx="586139" cy="586139"/>
          </a:xfrm>
          <a:prstGeom prst="ellipse">
            <a:avLst/>
          </a:prstGeom>
          <a:solidFill>
            <a:srgbClr val="138A0A"/>
          </a:solidFill>
          <a:ln w="12700">
            <a:solidFill>
              <a:srgbClr val="138A0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574" y="2192998"/>
            <a:ext cx="269624" cy="26962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057544" y="2059861"/>
            <a:ext cx="669873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38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3617316" y="2796721"/>
            <a:ext cx="2093354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ISSUE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3617316" y="3064671"/>
            <a:ext cx="2093354" cy="703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Pothole, street light, water: photo + location, routed to the right office.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213075" y="1808658"/>
            <a:ext cx="2562266" cy="2009620"/>
          </a:xfrm>
          <a:prstGeom prst="roundRect">
            <a:avLst>
              <a:gd name="adj" fmla="val 54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47531" y="2034740"/>
            <a:ext cx="586139" cy="586139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789" y="2192998"/>
            <a:ext cx="269624" cy="26962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887759" y="2059861"/>
            <a:ext cx="669873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5" name="Text 20"/>
          <p:cNvSpPr txBox="1"/>
          <p:nvPr/>
        </p:nvSpPr>
        <p:spPr>
          <a:xfrm>
            <a:off x="6447531" y="2796721"/>
            <a:ext cx="2093354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TRACKER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447531" y="3064671"/>
            <a:ext cx="2093354" cy="703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 till resolved. Not solved in time? Senior authority is notified.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9051664" y="1808658"/>
            <a:ext cx="2562266" cy="2009620"/>
          </a:xfrm>
          <a:prstGeom prst="roundRect">
            <a:avLst>
              <a:gd name="adj" fmla="val 54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286119" y="2034740"/>
            <a:ext cx="586139" cy="586139"/>
          </a:xfrm>
          <a:prstGeom prst="ellipse">
            <a:avLst/>
          </a:prstGeom>
          <a:solidFill>
            <a:srgbClr val="2AA8DC"/>
          </a:solidFill>
          <a:ln w="12700">
            <a:solidFill>
              <a:srgbClr val="2AA8DC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4377" y="2192998"/>
            <a:ext cx="269624" cy="26962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0726347" y="2059861"/>
            <a:ext cx="669873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AA8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31" name="Text 25"/>
          <p:cNvSpPr txBox="1"/>
          <p:nvPr/>
        </p:nvSpPr>
        <p:spPr>
          <a:xfrm>
            <a:off x="9286119" y="2796721"/>
            <a:ext cx="2093354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HELPER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9286119" y="3064671"/>
            <a:ext cx="2093354" cy="703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documents for Ration Card, Income Certificate and more, as a checklist.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44272" y="4035987"/>
            <a:ext cx="6355424" cy="2227329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28"/>
          <p:cNvSpPr txBox="1"/>
          <p:nvPr/>
        </p:nvSpPr>
        <p:spPr>
          <a:xfrm>
            <a:off x="770354" y="4211829"/>
            <a:ext cx="4186709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SOLVES THE PROBLEM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770354" y="4521645"/>
            <a:ext cx="2512025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778728" y="4730981"/>
            <a:ext cx="1272759" cy="502405"/>
          </a:xfrm>
          <a:prstGeom prst="roundRect">
            <a:avLst>
              <a:gd name="adj" fmla="val 27301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78728" y="4730981"/>
            <a:ext cx="1272759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portals</a:t>
            </a:r>
            <a:endParaRPr lang="en-US" sz="1050" dirty="0"/>
          </a:p>
        </p:txBody>
      </p:sp>
      <p:sp>
        <p:nvSpPr>
          <p:cNvPr id="38" name="Text 32"/>
          <p:cNvSpPr txBox="1"/>
          <p:nvPr/>
        </p:nvSpPr>
        <p:spPr>
          <a:xfrm>
            <a:off x="2051487" y="4730981"/>
            <a:ext cx="242829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3"/>
          <p:cNvSpPr/>
          <p:nvPr/>
        </p:nvSpPr>
        <p:spPr>
          <a:xfrm>
            <a:off x="2294316" y="4730981"/>
            <a:ext cx="1272759" cy="502405"/>
          </a:xfrm>
          <a:prstGeom prst="roundRect">
            <a:avLst>
              <a:gd name="adj" fmla="val 27301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2294316" y="4730981"/>
            <a:ext cx="1272759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documents</a:t>
            </a:r>
            <a:endParaRPr lang="en-US" sz="1050" dirty="0"/>
          </a:p>
        </p:txBody>
      </p:sp>
      <p:sp>
        <p:nvSpPr>
          <p:cNvPr id="41" name="Text 35"/>
          <p:cNvSpPr txBox="1"/>
          <p:nvPr/>
        </p:nvSpPr>
        <p:spPr>
          <a:xfrm>
            <a:off x="3567076" y="4730981"/>
            <a:ext cx="242829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36"/>
          <p:cNvSpPr/>
          <p:nvPr/>
        </p:nvSpPr>
        <p:spPr>
          <a:xfrm>
            <a:off x="3809905" y="4730981"/>
            <a:ext cx="1272759" cy="502405"/>
          </a:xfrm>
          <a:prstGeom prst="roundRect">
            <a:avLst>
              <a:gd name="adj" fmla="val 27301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3809905" y="4730981"/>
            <a:ext cx="1272759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visits</a:t>
            </a:r>
            <a:endParaRPr lang="en-US" sz="1050" dirty="0"/>
          </a:p>
        </p:txBody>
      </p:sp>
      <p:sp>
        <p:nvSpPr>
          <p:cNvPr id="44" name="Text 38"/>
          <p:cNvSpPr txBox="1"/>
          <p:nvPr/>
        </p:nvSpPr>
        <p:spPr>
          <a:xfrm>
            <a:off x="5082664" y="4730981"/>
            <a:ext cx="242829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39"/>
          <p:cNvSpPr/>
          <p:nvPr/>
        </p:nvSpPr>
        <p:spPr>
          <a:xfrm>
            <a:off x="5325493" y="4730981"/>
            <a:ext cx="1272759" cy="502405"/>
          </a:xfrm>
          <a:prstGeom prst="roundRect">
            <a:avLst>
              <a:gd name="adj" fmla="val 27301"/>
            </a:avLst>
          </a:prstGeom>
          <a:solidFill>
            <a:srgbClr val="E8EDF7"/>
          </a:solidFill>
          <a:ln w="12700">
            <a:solidFill>
              <a:srgbClr val="E8EDF7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5325493" y="4730981"/>
            <a:ext cx="1272759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follow-up</a:t>
            </a:r>
            <a:endParaRPr lang="en-US" sz="1050" dirty="0"/>
          </a:p>
        </p:txBody>
      </p:sp>
      <p:sp>
        <p:nvSpPr>
          <p:cNvPr id="47" name="Text 41"/>
          <p:cNvSpPr txBox="1"/>
          <p:nvPr/>
        </p:nvSpPr>
        <p:spPr>
          <a:xfrm>
            <a:off x="770354" y="5300373"/>
            <a:ext cx="2512025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JAN SETU</a:t>
            </a:r>
            <a:endParaRPr lang="en-US" sz="850" dirty="0"/>
          </a:p>
        </p:txBody>
      </p:sp>
      <p:sp>
        <p:nvSpPr>
          <p:cNvPr id="48" name="Shape 42"/>
          <p:cNvSpPr/>
          <p:nvPr/>
        </p:nvSpPr>
        <p:spPr>
          <a:xfrm>
            <a:off x="778728" y="5593443"/>
            <a:ext cx="1272759" cy="519152"/>
          </a:xfrm>
          <a:prstGeom prst="roundRect">
            <a:avLst>
              <a:gd name="adj" fmla="val 26420"/>
            </a:avLst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828968" y="5593443"/>
            <a:ext cx="1172278" cy="51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point</a:t>
            </a:r>
            <a:endParaRPr lang="en-US" sz="1050" dirty="0"/>
          </a:p>
        </p:txBody>
      </p:sp>
      <p:sp>
        <p:nvSpPr>
          <p:cNvPr id="50" name="Text 44"/>
          <p:cNvSpPr txBox="1"/>
          <p:nvPr/>
        </p:nvSpPr>
        <p:spPr>
          <a:xfrm>
            <a:off x="2051487" y="5593443"/>
            <a:ext cx="242829" cy="51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1" name="Shape 45"/>
          <p:cNvSpPr/>
          <p:nvPr/>
        </p:nvSpPr>
        <p:spPr>
          <a:xfrm>
            <a:off x="2294316" y="5593443"/>
            <a:ext cx="1272759" cy="519152"/>
          </a:xfrm>
          <a:prstGeom prst="roundRect">
            <a:avLst>
              <a:gd name="adj" fmla="val 26420"/>
            </a:avLst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2344557" y="5593443"/>
            <a:ext cx="1172278" cy="51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next step</a:t>
            </a:r>
            <a:endParaRPr lang="en-US" sz="1050" dirty="0"/>
          </a:p>
        </p:txBody>
      </p:sp>
      <p:sp>
        <p:nvSpPr>
          <p:cNvPr id="53" name="Text 47"/>
          <p:cNvSpPr txBox="1"/>
          <p:nvPr/>
        </p:nvSpPr>
        <p:spPr>
          <a:xfrm>
            <a:off x="3567076" y="5593443"/>
            <a:ext cx="242829" cy="51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4" name="Shape 48"/>
          <p:cNvSpPr/>
          <p:nvPr/>
        </p:nvSpPr>
        <p:spPr>
          <a:xfrm>
            <a:off x="3809905" y="5593443"/>
            <a:ext cx="1272759" cy="519152"/>
          </a:xfrm>
          <a:prstGeom prst="roundRect">
            <a:avLst>
              <a:gd name="adj" fmla="val 26420"/>
            </a:avLst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3860145" y="5593443"/>
            <a:ext cx="1172278" cy="51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online</a:t>
            </a:r>
            <a:endParaRPr lang="en-US" sz="1050" dirty="0"/>
          </a:p>
        </p:txBody>
      </p:sp>
      <p:sp>
        <p:nvSpPr>
          <p:cNvPr id="56" name="Text 50"/>
          <p:cNvSpPr txBox="1"/>
          <p:nvPr/>
        </p:nvSpPr>
        <p:spPr>
          <a:xfrm>
            <a:off x="5082664" y="5593443"/>
            <a:ext cx="242829" cy="51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7" name="Shape 51"/>
          <p:cNvSpPr/>
          <p:nvPr/>
        </p:nvSpPr>
        <p:spPr>
          <a:xfrm>
            <a:off x="5325493" y="5593443"/>
            <a:ext cx="1272759" cy="519152"/>
          </a:xfrm>
          <a:prstGeom prst="roundRect">
            <a:avLst>
              <a:gd name="adj" fmla="val 26420"/>
            </a:avLst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5375734" y="5593443"/>
            <a:ext cx="1172278" cy="51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+ escalation</a:t>
            </a:r>
            <a:endParaRPr lang="en-US" sz="1050" dirty="0"/>
          </a:p>
        </p:txBody>
      </p:sp>
      <p:sp>
        <p:nvSpPr>
          <p:cNvPr id="59" name="Shape 53"/>
          <p:cNvSpPr/>
          <p:nvPr/>
        </p:nvSpPr>
        <p:spPr>
          <a:xfrm>
            <a:off x="7117404" y="4035987"/>
            <a:ext cx="4521645" cy="2227329"/>
          </a:xfrm>
          <a:prstGeom prst="roundRect">
            <a:avLst>
              <a:gd name="adj" fmla="val 4926"/>
            </a:avLst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7360234" y="4211829"/>
            <a:ext cx="3349367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UNIQUE</a:t>
            </a:r>
            <a:endParaRPr lang="en-US" sz="1050" dirty="0"/>
          </a:p>
        </p:txBody>
      </p:sp>
      <p:sp>
        <p:nvSpPr>
          <p:cNvPr id="61" name="Shape 55"/>
          <p:cNvSpPr/>
          <p:nvPr/>
        </p:nvSpPr>
        <p:spPr>
          <a:xfrm>
            <a:off x="7360234" y="4613753"/>
            <a:ext cx="334937" cy="334937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pic>
        <p:nvPicPr>
          <p:cNvPr id="6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666" y="4704186"/>
            <a:ext cx="154071" cy="154071"/>
          </a:xfrm>
          <a:prstGeom prst="rect">
            <a:avLst/>
          </a:prstGeom>
        </p:spPr>
      </p:pic>
      <p:sp>
        <p:nvSpPr>
          <p:cNvPr id="63" name="Text 56"/>
          <p:cNvSpPr txBox="1"/>
          <p:nvPr/>
        </p:nvSpPr>
        <p:spPr>
          <a:xfrm>
            <a:off x="7812398" y="4613753"/>
            <a:ext cx="3684303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Proactive: auto-alerts senior authority if unresolved</a:t>
            </a:r>
            <a:endParaRPr lang="en-US" sz="1100" dirty="0"/>
          </a:p>
        </p:txBody>
      </p:sp>
      <p:sp>
        <p:nvSpPr>
          <p:cNvPr id="64" name="Shape 57"/>
          <p:cNvSpPr/>
          <p:nvPr/>
        </p:nvSpPr>
        <p:spPr>
          <a:xfrm>
            <a:off x="7360234" y="5024050"/>
            <a:ext cx="334937" cy="334937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0666" y="5114483"/>
            <a:ext cx="154071" cy="154071"/>
          </a:xfrm>
          <a:prstGeom prst="rect">
            <a:avLst/>
          </a:prstGeom>
        </p:spPr>
      </p:pic>
      <p:sp>
        <p:nvSpPr>
          <p:cNvPr id="66" name="Text 58"/>
          <p:cNvSpPr txBox="1"/>
          <p:nvPr/>
        </p:nvSpPr>
        <p:spPr>
          <a:xfrm>
            <a:off x="7812398" y="5024050"/>
            <a:ext cx="3684303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search in Indian languages (Bhashini API)</a:t>
            </a:r>
            <a:endParaRPr lang="en-US" sz="1100" dirty="0"/>
          </a:p>
        </p:txBody>
      </p:sp>
      <p:sp>
        <p:nvSpPr>
          <p:cNvPr id="67" name="Shape 59"/>
          <p:cNvSpPr/>
          <p:nvPr/>
        </p:nvSpPr>
        <p:spPr>
          <a:xfrm>
            <a:off x="7360234" y="5434348"/>
            <a:ext cx="334937" cy="334937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0666" y="5524781"/>
            <a:ext cx="154071" cy="154071"/>
          </a:xfrm>
          <a:prstGeom prst="rect">
            <a:avLst/>
          </a:prstGeom>
        </p:spPr>
      </p:pic>
      <p:sp>
        <p:nvSpPr>
          <p:cNvPr id="69" name="Text 60"/>
          <p:cNvSpPr txBox="1"/>
          <p:nvPr/>
        </p:nvSpPr>
        <p:spPr>
          <a:xfrm>
            <a:off x="7812398" y="5434348"/>
            <a:ext cx="3684303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intent-to-action, grounded in verified data</a:t>
            </a:r>
            <a:endParaRPr lang="en-US" sz="1100" dirty="0"/>
          </a:p>
        </p:txBody>
      </p:sp>
      <p:sp>
        <p:nvSpPr>
          <p:cNvPr id="70" name="Shape 61"/>
          <p:cNvSpPr/>
          <p:nvPr/>
        </p:nvSpPr>
        <p:spPr>
          <a:xfrm>
            <a:off x="7360234" y="5844645"/>
            <a:ext cx="334937" cy="334937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pic>
        <p:nvPicPr>
          <p:cNvPr id="7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0666" y="5935078"/>
            <a:ext cx="154071" cy="154071"/>
          </a:xfrm>
          <a:prstGeom prst="rect">
            <a:avLst/>
          </a:prstGeom>
        </p:spPr>
      </p:pic>
      <p:sp>
        <p:nvSpPr>
          <p:cNvPr id="72" name="Text 62"/>
          <p:cNvSpPr txBox="1"/>
          <p:nvPr/>
        </p:nvSpPr>
        <p:spPr>
          <a:xfrm>
            <a:off x="7812398" y="5844645"/>
            <a:ext cx="3684303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Simple: anyone understands it in 2 minutes</a:t>
            </a:r>
            <a:endParaRPr lang="en-US" sz="1100" dirty="0"/>
          </a:p>
        </p:txBody>
      </p:sp>
      <p:sp>
        <p:nvSpPr>
          <p:cNvPr id="73" name="Text 63"/>
          <p:cNvSpPr txBox="1"/>
          <p:nvPr/>
        </p:nvSpPr>
        <p:spPr>
          <a:xfrm>
            <a:off x="544272" y="6497772"/>
            <a:ext cx="5024050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•  Idea Submission</a:t>
            </a:r>
            <a:endParaRPr lang="en-US" sz="800" dirty="0"/>
          </a:p>
        </p:txBody>
      </p:sp>
      <p:sp>
        <p:nvSpPr>
          <p:cNvPr id="74" name="Text 64"/>
          <p:cNvSpPr txBox="1"/>
          <p:nvPr/>
        </p:nvSpPr>
        <p:spPr>
          <a:xfrm>
            <a:off x="8373417" y="6497772"/>
            <a:ext cx="326563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OVERDRIVE   | 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272" y="368430"/>
            <a:ext cx="5861392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PROCESS /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4272" y="669873"/>
            <a:ext cx="7536075" cy="55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4272" y="1256013"/>
            <a:ext cx="8373417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input  →  AI intent layer  →  verified service workflow  →  trackable outcome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01904" y="452165"/>
            <a:ext cx="1381614" cy="334937"/>
          </a:xfrm>
          <a:prstGeom prst="roundRect">
            <a:avLst>
              <a:gd name="adj" fmla="val 54601"/>
            </a:avLst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01904" y="452165"/>
            <a:ext cx="1381614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OVERDRIVE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67252" y="452165"/>
            <a:ext cx="1071797" cy="334937"/>
          </a:xfrm>
          <a:prstGeom prst="roundRect">
            <a:avLst>
              <a:gd name="adj" fmla="val 54601"/>
            </a:avLst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7252" y="452165"/>
            <a:ext cx="1071797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4272" y="1808658"/>
            <a:ext cx="1833778" cy="1825405"/>
          </a:xfrm>
          <a:prstGeom prst="roundRect">
            <a:avLst>
              <a:gd name="adj" fmla="val 60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28487" y="2017994"/>
            <a:ext cx="535899" cy="535899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180" y="2162686"/>
            <a:ext cx="246513" cy="24651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632816" y="2009620"/>
            <a:ext cx="586139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9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28487" y="2679493"/>
            <a:ext cx="1590949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28487" y="2922323"/>
            <a:ext cx="1523962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• Voice • Photo in any Indian language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378050" y="2428291"/>
            <a:ext cx="485658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863709" y="1808658"/>
            <a:ext cx="1833778" cy="1825405"/>
          </a:xfrm>
          <a:prstGeom prst="roundRect">
            <a:avLst>
              <a:gd name="adj" fmla="val 60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047924" y="2017994"/>
            <a:ext cx="535899" cy="535899"/>
          </a:xfrm>
          <a:prstGeom prst="ellipse">
            <a:avLst/>
          </a:prstGeom>
          <a:solidFill>
            <a:srgbClr val="2AA8DC"/>
          </a:solidFill>
          <a:ln w="12700">
            <a:solidFill>
              <a:srgbClr val="2AA8DC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616" y="2162686"/>
            <a:ext cx="246513" cy="246513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952253" y="2009620"/>
            <a:ext cx="586139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AA8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6"/>
          <p:cNvSpPr txBox="1"/>
          <p:nvPr/>
        </p:nvSpPr>
        <p:spPr>
          <a:xfrm>
            <a:off x="3047924" y="2679493"/>
            <a:ext cx="1590949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SETU WEB UI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3047924" y="2922323"/>
            <a:ext cx="1523962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with Bhashini voice &amp; translation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97487" y="2428291"/>
            <a:ext cx="477285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174772" y="1808658"/>
            <a:ext cx="1833778" cy="1825405"/>
          </a:xfrm>
          <a:prstGeom prst="roundRect">
            <a:avLst>
              <a:gd name="adj" fmla="val 60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358987" y="2017994"/>
            <a:ext cx="535899" cy="535899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680" y="2162686"/>
            <a:ext cx="246513" cy="246513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263316" y="2009620"/>
            <a:ext cx="586139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7" name="Text 22"/>
          <p:cNvSpPr txBox="1"/>
          <p:nvPr/>
        </p:nvSpPr>
        <p:spPr>
          <a:xfrm>
            <a:off x="5358987" y="2679493"/>
            <a:ext cx="1590949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INTENT LAYER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358987" y="2922323"/>
            <a:ext cx="1523962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+ retrieval from verified service data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7008550" y="2428291"/>
            <a:ext cx="477285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7485835" y="1808658"/>
            <a:ext cx="1833778" cy="1825405"/>
          </a:xfrm>
          <a:prstGeom prst="roundRect">
            <a:avLst>
              <a:gd name="adj" fmla="val 60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7670050" y="2017994"/>
            <a:ext cx="535899" cy="535899"/>
          </a:xfrm>
          <a:prstGeom prst="ellipse">
            <a:avLst/>
          </a:prstGeom>
          <a:solidFill>
            <a:srgbClr val="138A0A"/>
          </a:solidFill>
          <a:ln w="12700">
            <a:solidFill>
              <a:srgbClr val="138A0A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743" y="2162686"/>
            <a:ext cx="246513" cy="246513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574379" y="2009620"/>
            <a:ext cx="586139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38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34" name="Text 28"/>
          <p:cNvSpPr txBox="1"/>
          <p:nvPr/>
        </p:nvSpPr>
        <p:spPr>
          <a:xfrm>
            <a:off x="7670050" y="2679493"/>
            <a:ext cx="1590949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COUNTERS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7670050" y="2922323"/>
            <a:ext cx="1523962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• Issue • Tracker • Documents (modular)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9319613" y="2428291"/>
            <a:ext cx="477285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9796898" y="1808658"/>
            <a:ext cx="1833778" cy="1825405"/>
          </a:xfrm>
          <a:prstGeom prst="roundRect">
            <a:avLst>
              <a:gd name="adj" fmla="val 60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9981113" y="2017994"/>
            <a:ext cx="535899" cy="535899"/>
          </a:xfrm>
          <a:prstGeom prst="ellipse">
            <a:avLst/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5806" y="2162686"/>
            <a:ext cx="246513" cy="246513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0885442" y="2009620"/>
            <a:ext cx="586139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A1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41" name="Text 34"/>
          <p:cNvSpPr txBox="1"/>
          <p:nvPr/>
        </p:nvSpPr>
        <p:spPr>
          <a:xfrm>
            <a:off x="9981113" y="2679493"/>
            <a:ext cx="1590949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DATA &amp; DEPTS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9981113" y="2922323"/>
            <a:ext cx="1523962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workflows via API / adaptor layer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544272" y="3843398"/>
            <a:ext cx="11094778" cy="761981"/>
          </a:xfrm>
          <a:prstGeom prst="roundRect">
            <a:avLst>
              <a:gd name="adj" fmla="val 14400"/>
            </a:avLst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736861" y="3952253"/>
            <a:ext cx="552646" cy="552646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075" y="4101467"/>
            <a:ext cx="254217" cy="254217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1465348" y="4002493"/>
            <a:ext cx="2512025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ENGINE</a:t>
            </a:r>
            <a:endParaRPr lang="en-US" sz="1100" dirty="0"/>
          </a:p>
        </p:txBody>
      </p:sp>
      <p:sp>
        <p:nvSpPr>
          <p:cNvPr id="47" name="Text 39"/>
          <p:cNvSpPr txBox="1"/>
          <p:nvPr/>
        </p:nvSpPr>
        <p:spPr>
          <a:xfrm>
            <a:off x="1465348" y="4253696"/>
            <a:ext cx="2512025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Jan Setu proactive, not just a form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4161588" y="4019240"/>
            <a:ext cx="1741671" cy="418671"/>
          </a:xfrm>
          <a:prstGeom prst="roundRect">
            <a:avLst>
              <a:gd name="adj" fmla="val 327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1"/>
          <p:cNvSpPr txBox="1"/>
          <p:nvPr/>
        </p:nvSpPr>
        <p:spPr>
          <a:xfrm>
            <a:off x="4161588" y="4019240"/>
            <a:ext cx="1741671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watches requests</a:t>
            </a:r>
            <a:endParaRPr lang="en-US" sz="1050" dirty="0"/>
          </a:p>
        </p:txBody>
      </p:sp>
      <p:sp>
        <p:nvSpPr>
          <p:cNvPr id="50" name="Text 42"/>
          <p:cNvSpPr txBox="1"/>
          <p:nvPr/>
        </p:nvSpPr>
        <p:spPr>
          <a:xfrm>
            <a:off x="5903259" y="4019240"/>
            <a:ext cx="267949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1" name="Shape 43"/>
          <p:cNvSpPr/>
          <p:nvPr/>
        </p:nvSpPr>
        <p:spPr>
          <a:xfrm>
            <a:off x="6171208" y="4019240"/>
            <a:ext cx="1256013" cy="418671"/>
          </a:xfrm>
          <a:prstGeom prst="roundRect">
            <a:avLst>
              <a:gd name="adj" fmla="val 32761"/>
            </a:avLst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6171208" y="4019240"/>
            <a:ext cx="1256013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missed</a:t>
            </a:r>
            <a:endParaRPr lang="en-US" sz="1050" dirty="0"/>
          </a:p>
        </p:txBody>
      </p:sp>
      <p:sp>
        <p:nvSpPr>
          <p:cNvPr id="53" name="Text 45"/>
          <p:cNvSpPr txBox="1"/>
          <p:nvPr/>
        </p:nvSpPr>
        <p:spPr>
          <a:xfrm>
            <a:off x="7427221" y="4019240"/>
            <a:ext cx="217709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4" name="Shape 46"/>
          <p:cNvSpPr/>
          <p:nvPr/>
        </p:nvSpPr>
        <p:spPr>
          <a:xfrm>
            <a:off x="7644930" y="4019240"/>
            <a:ext cx="1909139" cy="418671"/>
          </a:xfrm>
          <a:prstGeom prst="roundRect">
            <a:avLst>
              <a:gd name="adj" fmla="val 327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7644930" y="4019240"/>
            <a:ext cx="1909139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authority alerted</a:t>
            </a:r>
            <a:endParaRPr lang="en-US" sz="1050" dirty="0"/>
          </a:p>
        </p:txBody>
      </p:sp>
      <p:sp>
        <p:nvSpPr>
          <p:cNvPr id="56" name="Text 48"/>
          <p:cNvSpPr txBox="1"/>
          <p:nvPr/>
        </p:nvSpPr>
        <p:spPr>
          <a:xfrm>
            <a:off x="9554069" y="4019240"/>
            <a:ext cx="267949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7" name="Shape 49"/>
          <p:cNvSpPr/>
          <p:nvPr/>
        </p:nvSpPr>
        <p:spPr>
          <a:xfrm>
            <a:off x="9822018" y="4019240"/>
            <a:ext cx="1515588" cy="418671"/>
          </a:xfrm>
          <a:prstGeom prst="roundRect">
            <a:avLst>
              <a:gd name="adj" fmla="val 327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9822018" y="4019240"/>
            <a:ext cx="1515588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sees status</a:t>
            </a:r>
            <a:endParaRPr lang="en-US" sz="1050" dirty="0"/>
          </a:p>
        </p:txBody>
      </p:sp>
      <p:sp>
        <p:nvSpPr>
          <p:cNvPr id="59" name="Text 51"/>
          <p:cNvSpPr txBox="1"/>
          <p:nvPr/>
        </p:nvSpPr>
        <p:spPr>
          <a:xfrm>
            <a:off x="544272" y="4797968"/>
            <a:ext cx="334936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050" dirty="0"/>
          </a:p>
        </p:txBody>
      </p:sp>
      <p:sp>
        <p:nvSpPr>
          <p:cNvPr id="60" name="GitHubButton">
            <a:hlinkClick r:id="rId9" tooltip="Open GitHub repository"/>
          </p:cNvPr>
          <p:cNvSpPr/>
          <p:nvPr/>
        </p:nvSpPr>
        <p:spPr>
          <a:xfrm>
            <a:off x="9461961" y="4739354"/>
            <a:ext cx="2177088" cy="334937"/>
          </a:xfrm>
          <a:prstGeom prst="roundRect">
            <a:avLst>
              <a:gd name="adj" fmla="val 54601"/>
            </a:avLst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1" name="GitHubIcon" descr="preencoded.png">
            <a:hlinkClick r:id="rId9" tooltip="Open GitHub repository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176" y="4814715"/>
            <a:ext cx="184215" cy="184215"/>
          </a:xfrm>
          <a:prstGeom prst="rect">
            <a:avLst/>
          </a:prstGeom>
        </p:spPr>
      </p:pic>
      <p:sp>
        <p:nvSpPr>
          <p:cNvPr id="62" name="GitHubLabel">
            <a:hlinkClick r:id="rId9" tooltip="Open GitHub repository"/>
          </p:cNvPr>
          <p:cNvSpPr txBox="1"/>
          <p:nvPr/>
        </p:nvSpPr>
        <p:spPr>
          <a:xfrm>
            <a:off x="9914126" y="4739354"/>
            <a:ext cx="1590949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Code on GitHub</a:t>
            </a:r>
            <a:endParaRPr lang="en-US" sz="1100" dirty="0"/>
          </a:p>
        </p:txBody>
      </p:sp>
      <p:pic>
        <p:nvPicPr>
          <p:cNvPr id="63" name="GitHubLink" descr="preencoded.png">
            <a:hlinkClick r:id="rId9" tooltip="Open GitHub repository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1961" y="4739354"/>
            <a:ext cx="2177088" cy="334937"/>
          </a:xfrm>
          <a:prstGeom prst="rect">
            <a:avLst/>
          </a:prstGeom>
        </p:spPr>
      </p:pic>
      <p:sp>
        <p:nvSpPr>
          <p:cNvPr id="64" name="Shape 54"/>
          <p:cNvSpPr/>
          <p:nvPr/>
        </p:nvSpPr>
        <p:spPr>
          <a:xfrm>
            <a:off x="544272" y="5191519"/>
            <a:ext cx="2009620" cy="1088544"/>
          </a:xfrm>
          <a:prstGeom prst="roundRect">
            <a:avLst>
              <a:gd name="adj" fmla="val 100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5" name="Shape 55"/>
          <p:cNvSpPr/>
          <p:nvPr/>
        </p:nvSpPr>
        <p:spPr>
          <a:xfrm>
            <a:off x="711740" y="5342240"/>
            <a:ext cx="452165" cy="452165"/>
          </a:xfrm>
          <a:prstGeom prst="ellipse">
            <a:avLst/>
          </a:prstGeom>
          <a:solidFill>
            <a:srgbClr val="2AA8DC"/>
          </a:solidFill>
          <a:ln w="12700">
            <a:solidFill>
              <a:srgbClr val="2AA8DC"/>
            </a:solidFill>
            <a:prstDash val="solid"/>
          </a:ln>
        </p:spPr>
      </p:sp>
      <p:pic>
        <p:nvPicPr>
          <p:cNvPr id="6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825" y="5464324"/>
            <a:ext cx="207996" cy="207996"/>
          </a:xfrm>
          <a:prstGeom prst="rect">
            <a:avLst/>
          </a:prstGeom>
        </p:spPr>
      </p:pic>
      <p:sp>
        <p:nvSpPr>
          <p:cNvPr id="67" name="Text 56"/>
          <p:cNvSpPr txBox="1"/>
          <p:nvPr/>
        </p:nvSpPr>
        <p:spPr>
          <a:xfrm>
            <a:off x="1281133" y="5342240"/>
            <a:ext cx="1172278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8" name="Text 57"/>
          <p:cNvSpPr txBox="1"/>
          <p:nvPr/>
        </p:nvSpPr>
        <p:spPr>
          <a:xfrm>
            <a:off x="711740" y="5894886"/>
            <a:ext cx="1716550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• Tailwind CSS</a:t>
            </a:r>
            <a:endParaRPr lang="en-US" sz="1050" dirty="0"/>
          </a:p>
        </p:txBody>
      </p:sp>
      <p:sp>
        <p:nvSpPr>
          <p:cNvPr id="69" name="Shape 58"/>
          <p:cNvSpPr/>
          <p:nvPr/>
        </p:nvSpPr>
        <p:spPr>
          <a:xfrm>
            <a:off x="2821842" y="5191519"/>
            <a:ext cx="2009620" cy="1088544"/>
          </a:xfrm>
          <a:prstGeom prst="roundRect">
            <a:avLst>
              <a:gd name="adj" fmla="val 100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0" name="Shape 59"/>
          <p:cNvSpPr/>
          <p:nvPr/>
        </p:nvSpPr>
        <p:spPr>
          <a:xfrm>
            <a:off x="2989310" y="5342240"/>
            <a:ext cx="452165" cy="452165"/>
          </a:xfrm>
          <a:prstGeom prst="ellipse">
            <a:avLst/>
          </a:prstGeom>
          <a:solidFill>
            <a:srgbClr val="138A0A"/>
          </a:solidFill>
          <a:ln w="12700">
            <a:solidFill>
              <a:srgbClr val="138A0A"/>
            </a:solidFill>
            <a:prstDash val="solid"/>
          </a:ln>
        </p:spPr>
      </p:sp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11394" y="5464324"/>
            <a:ext cx="207996" cy="207996"/>
          </a:xfrm>
          <a:prstGeom prst="rect">
            <a:avLst/>
          </a:prstGeom>
        </p:spPr>
      </p:pic>
      <p:sp>
        <p:nvSpPr>
          <p:cNvPr id="72" name="Text 60"/>
          <p:cNvSpPr txBox="1"/>
          <p:nvPr/>
        </p:nvSpPr>
        <p:spPr>
          <a:xfrm>
            <a:off x="3558702" y="5342240"/>
            <a:ext cx="1172278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73" name="Text 61"/>
          <p:cNvSpPr txBox="1"/>
          <p:nvPr/>
        </p:nvSpPr>
        <p:spPr>
          <a:xfrm>
            <a:off x="2989310" y="5894886"/>
            <a:ext cx="1716550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• Express</a:t>
            </a:r>
            <a:endParaRPr lang="en-US" sz="1050" dirty="0"/>
          </a:p>
        </p:txBody>
      </p:sp>
      <p:sp>
        <p:nvSpPr>
          <p:cNvPr id="74" name="Shape 62"/>
          <p:cNvSpPr/>
          <p:nvPr/>
        </p:nvSpPr>
        <p:spPr>
          <a:xfrm>
            <a:off x="5091038" y="5191519"/>
            <a:ext cx="2009620" cy="1088544"/>
          </a:xfrm>
          <a:prstGeom prst="roundRect">
            <a:avLst>
              <a:gd name="adj" fmla="val 100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5" name="Shape 63"/>
          <p:cNvSpPr/>
          <p:nvPr/>
        </p:nvSpPr>
        <p:spPr>
          <a:xfrm>
            <a:off x="5258506" y="5342240"/>
            <a:ext cx="452165" cy="452165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76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0590" y="5464324"/>
            <a:ext cx="207996" cy="207996"/>
          </a:xfrm>
          <a:prstGeom prst="rect">
            <a:avLst/>
          </a:prstGeom>
        </p:spPr>
      </p:pic>
      <p:sp>
        <p:nvSpPr>
          <p:cNvPr id="77" name="Text 64"/>
          <p:cNvSpPr txBox="1"/>
          <p:nvPr/>
        </p:nvSpPr>
        <p:spPr>
          <a:xfrm>
            <a:off x="5827898" y="5342240"/>
            <a:ext cx="1172278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78" name="Text 65"/>
          <p:cNvSpPr txBox="1"/>
          <p:nvPr/>
        </p:nvSpPr>
        <p:spPr>
          <a:xfrm>
            <a:off x="5258506" y="5894886"/>
            <a:ext cx="1716550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• PostgreSQL</a:t>
            </a:r>
            <a:endParaRPr lang="en-US" sz="1050" dirty="0"/>
          </a:p>
        </p:txBody>
      </p:sp>
      <p:sp>
        <p:nvSpPr>
          <p:cNvPr id="79" name="Shape 66"/>
          <p:cNvSpPr/>
          <p:nvPr/>
        </p:nvSpPr>
        <p:spPr>
          <a:xfrm>
            <a:off x="7360234" y="5191519"/>
            <a:ext cx="2009620" cy="1088544"/>
          </a:xfrm>
          <a:prstGeom prst="roundRect">
            <a:avLst>
              <a:gd name="adj" fmla="val 100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0" name="Shape 67"/>
          <p:cNvSpPr/>
          <p:nvPr/>
        </p:nvSpPr>
        <p:spPr>
          <a:xfrm>
            <a:off x="7527702" y="5342240"/>
            <a:ext cx="452165" cy="452165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pic>
        <p:nvPicPr>
          <p:cNvPr id="81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49786" y="5464324"/>
            <a:ext cx="207996" cy="207996"/>
          </a:xfrm>
          <a:prstGeom prst="rect">
            <a:avLst/>
          </a:prstGeom>
        </p:spPr>
      </p:pic>
      <p:sp>
        <p:nvSpPr>
          <p:cNvPr id="82" name="Text 68"/>
          <p:cNvSpPr txBox="1"/>
          <p:nvPr/>
        </p:nvSpPr>
        <p:spPr>
          <a:xfrm>
            <a:off x="8097094" y="5342240"/>
            <a:ext cx="1172278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Language</a:t>
            </a:r>
            <a:endParaRPr lang="en-US" sz="1300" dirty="0"/>
          </a:p>
        </p:txBody>
      </p:sp>
      <p:sp>
        <p:nvSpPr>
          <p:cNvPr id="83" name="Text 69"/>
          <p:cNvSpPr txBox="1"/>
          <p:nvPr/>
        </p:nvSpPr>
        <p:spPr>
          <a:xfrm>
            <a:off x="7527702" y="5894886"/>
            <a:ext cx="1716550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• Bhashini API</a:t>
            </a:r>
            <a:endParaRPr lang="en-US" sz="1050" dirty="0"/>
          </a:p>
        </p:txBody>
      </p:sp>
      <p:sp>
        <p:nvSpPr>
          <p:cNvPr id="84" name="Shape 70"/>
          <p:cNvSpPr/>
          <p:nvPr/>
        </p:nvSpPr>
        <p:spPr>
          <a:xfrm>
            <a:off x="9629430" y="5191519"/>
            <a:ext cx="2009620" cy="1088544"/>
          </a:xfrm>
          <a:prstGeom prst="roundRect">
            <a:avLst>
              <a:gd name="adj" fmla="val 100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5" name="Shape 71"/>
          <p:cNvSpPr/>
          <p:nvPr/>
        </p:nvSpPr>
        <p:spPr>
          <a:xfrm>
            <a:off x="9796898" y="5342240"/>
            <a:ext cx="452165" cy="452165"/>
          </a:xfrm>
          <a:prstGeom prst="ellipse">
            <a:avLst/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pic>
        <p:nvPicPr>
          <p:cNvPr id="86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18982" y="5464324"/>
            <a:ext cx="207996" cy="207996"/>
          </a:xfrm>
          <a:prstGeom prst="rect">
            <a:avLst/>
          </a:prstGeom>
        </p:spPr>
      </p:pic>
      <p:sp>
        <p:nvSpPr>
          <p:cNvPr id="87" name="Text 72"/>
          <p:cNvSpPr txBox="1"/>
          <p:nvPr/>
        </p:nvSpPr>
        <p:spPr>
          <a:xfrm>
            <a:off x="10366290" y="5342240"/>
            <a:ext cx="1172278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88" name="Text 73"/>
          <p:cNvSpPr txBox="1"/>
          <p:nvPr/>
        </p:nvSpPr>
        <p:spPr>
          <a:xfrm>
            <a:off x="9796898" y="5894886"/>
            <a:ext cx="1716550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• Role-based access • Audit logs</a:t>
            </a:r>
            <a:endParaRPr lang="en-US" sz="1050" dirty="0"/>
          </a:p>
        </p:txBody>
      </p:sp>
      <p:sp>
        <p:nvSpPr>
          <p:cNvPr id="89" name="Text 74"/>
          <p:cNvSpPr txBox="1"/>
          <p:nvPr/>
        </p:nvSpPr>
        <p:spPr>
          <a:xfrm>
            <a:off x="544272" y="6497772"/>
            <a:ext cx="5024050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•  Idea Submission</a:t>
            </a:r>
            <a:endParaRPr lang="en-US" sz="800" dirty="0"/>
          </a:p>
        </p:txBody>
      </p:sp>
      <p:sp>
        <p:nvSpPr>
          <p:cNvPr id="90" name="Text 75"/>
          <p:cNvSpPr txBox="1"/>
          <p:nvPr/>
        </p:nvSpPr>
        <p:spPr>
          <a:xfrm>
            <a:off x="8373417" y="6497772"/>
            <a:ext cx="326563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OVERDRIVE   | 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272" y="368430"/>
            <a:ext cx="5861392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BUILD → PILOT → EXPAND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4272" y="669873"/>
            <a:ext cx="7536075" cy="55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4272" y="1256013"/>
            <a:ext cx="8373417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Buildable now, pilotable in Haryana, scalable to every department.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01904" y="452165"/>
            <a:ext cx="1381614" cy="334937"/>
          </a:xfrm>
          <a:prstGeom prst="roundRect">
            <a:avLst>
              <a:gd name="adj" fmla="val 54601"/>
            </a:avLst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01904" y="452165"/>
            <a:ext cx="1381614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OVERDRIVE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67252" y="452165"/>
            <a:ext cx="1071797" cy="334937"/>
          </a:xfrm>
          <a:prstGeom prst="roundRect">
            <a:avLst>
              <a:gd name="adj" fmla="val 54601"/>
            </a:avLst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7252" y="452165"/>
            <a:ext cx="1071797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4272" y="1808658"/>
            <a:ext cx="3516835" cy="921076"/>
          </a:xfrm>
          <a:prstGeom prst="roundRect">
            <a:avLst>
              <a:gd name="adj" fmla="val 11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5234" y="2034740"/>
            <a:ext cx="535899" cy="535899"/>
          </a:xfrm>
          <a:prstGeom prst="ellipse">
            <a:avLst/>
          </a:prstGeom>
          <a:solidFill>
            <a:srgbClr val="138A0A"/>
          </a:solidFill>
          <a:ln w="12700">
            <a:solidFill>
              <a:srgbClr val="138A0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927" y="2179433"/>
            <a:ext cx="246513" cy="24651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31854" y="1942633"/>
            <a:ext cx="2428291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BUILDABLE MVP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431854" y="2210582"/>
            <a:ext cx="2470158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Web-first, modular counters, built on existing AI, database and language APIs.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37430" y="1808658"/>
            <a:ext cx="3516835" cy="921076"/>
          </a:xfrm>
          <a:prstGeom prst="roundRect">
            <a:avLst>
              <a:gd name="adj" fmla="val 11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38392" y="2034740"/>
            <a:ext cx="535899" cy="535899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085" y="2179433"/>
            <a:ext cx="246513" cy="246513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25012" y="1942633"/>
            <a:ext cx="2428291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PILOTABLE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225012" y="2210582"/>
            <a:ext cx="2470158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few Haryana service workflows and validate real citizen journeys.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22215" y="1808658"/>
            <a:ext cx="3516835" cy="921076"/>
          </a:xfrm>
          <a:prstGeom prst="roundRect">
            <a:avLst>
              <a:gd name="adj" fmla="val 119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23177" y="2034740"/>
            <a:ext cx="535899" cy="535899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869" y="2179433"/>
            <a:ext cx="246513" cy="24651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09797" y="1942633"/>
            <a:ext cx="2428291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9009797" y="2210582"/>
            <a:ext cx="2470158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/ adaptor layer adds departments one by one, with no core rebuild.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544272" y="3207019"/>
            <a:ext cx="4186709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 →  MITIGATION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4272" y="3508462"/>
            <a:ext cx="7092284" cy="468911"/>
          </a:xfrm>
          <a:prstGeom prst="roundRect">
            <a:avLst>
              <a:gd name="adj" fmla="val 292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745234" y="3508462"/>
            <a:ext cx="2260823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data changes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2989310" y="3508462"/>
            <a:ext cx="334937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3449848" y="3508462"/>
            <a:ext cx="4019240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service catalogue with verified source links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44272" y="4061107"/>
            <a:ext cx="7092284" cy="468911"/>
          </a:xfrm>
          <a:prstGeom prst="roundRect">
            <a:avLst>
              <a:gd name="adj" fmla="val 292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745234" y="4061107"/>
            <a:ext cx="2260823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gives wrong guidance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2989310" y="4061107"/>
            <a:ext cx="334937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3449848" y="4061107"/>
            <a:ext cx="4019240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only in approved workflow data; always show source + next step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44272" y="4613753"/>
            <a:ext cx="7092284" cy="468911"/>
          </a:xfrm>
          <a:prstGeom prst="roundRect">
            <a:avLst>
              <a:gd name="adj" fmla="val 292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29"/>
          <p:cNvSpPr txBox="1"/>
          <p:nvPr/>
        </p:nvSpPr>
        <p:spPr>
          <a:xfrm>
            <a:off x="745234" y="4613753"/>
            <a:ext cx="2260823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integration</a:t>
            </a:r>
            <a:endParaRPr lang="en-US" sz="1150" dirty="0"/>
          </a:p>
        </p:txBody>
      </p:sp>
      <p:sp>
        <p:nvSpPr>
          <p:cNvPr id="35" name="Text 30"/>
          <p:cNvSpPr txBox="1"/>
          <p:nvPr/>
        </p:nvSpPr>
        <p:spPr>
          <a:xfrm>
            <a:off x="2989310" y="4613753"/>
            <a:ext cx="334937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3449848" y="4613753"/>
            <a:ext cx="4019240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pilot workflows; one API / adaptor per department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544272" y="5166398"/>
            <a:ext cx="7092284" cy="468911"/>
          </a:xfrm>
          <a:prstGeom prst="roundRect">
            <a:avLst>
              <a:gd name="adj" fmla="val 292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3"/>
          <p:cNvSpPr txBox="1"/>
          <p:nvPr/>
        </p:nvSpPr>
        <p:spPr>
          <a:xfrm>
            <a:off x="745234" y="5166398"/>
            <a:ext cx="2260823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digital divide</a:t>
            </a:r>
            <a:endParaRPr lang="en-US" sz="1150" dirty="0"/>
          </a:p>
        </p:txBody>
      </p:sp>
      <p:sp>
        <p:nvSpPr>
          <p:cNvPr id="39" name="Text 34"/>
          <p:cNvSpPr txBox="1"/>
          <p:nvPr/>
        </p:nvSpPr>
        <p:spPr>
          <a:xfrm>
            <a:off x="2989310" y="5166398"/>
            <a:ext cx="334937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5"/>
          <p:cNvSpPr txBox="1"/>
          <p:nvPr/>
        </p:nvSpPr>
        <p:spPr>
          <a:xfrm>
            <a:off x="3449848" y="5166398"/>
            <a:ext cx="4019240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UI, voice input and simple guided flows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544272" y="5719044"/>
            <a:ext cx="7092284" cy="468911"/>
          </a:xfrm>
          <a:prstGeom prst="roundRect">
            <a:avLst>
              <a:gd name="adj" fmla="val 292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Text 37"/>
          <p:cNvSpPr txBox="1"/>
          <p:nvPr/>
        </p:nvSpPr>
        <p:spPr>
          <a:xfrm>
            <a:off x="745234" y="5719044"/>
            <a:ext cx="2260823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trust &amp; privacy</a:t>
            </a:r>
            <a:endParaRPr lang="en-US" sz="1150" dirty="0"/>
          </a:p>
        </p:txBody>
      </p:sp>
      <p:sp>
        <p:nvSpPr>
          <p:cNvPr id="43" name="Text 38"/>
          <p:cNvSpPr txBox="1"/>
          <p:nvPr/>
        </p:nvSpPr>
        <p:spPr>
          <a:xfrm>
            <a:off x="2989310" y="5719044"/>
            <a:ext cx="334937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39"/>
          <p:cNvSpPr txBox="1"/>
          <p:nvPr/>
        </p:nvSpPr>
        <p:spPr>
          <a:xfrm>
            <a:off x="3449848" y="5719044"/>
            <a:ext cx="4019240" cy="4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data, JWT login, audit logs and clear consent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7904506" y="3198645"/>
            <a:ext cx="3734544" cy="3073044"/>
          </a:xfrm>
          <a:prstGeom prst="roundRect">
            <a:avLst>
              <a:gd name="adj" fmla="val 2976"/>
            </a:avLst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8180828" y="3416354"/>
            <a:ext cx="2512025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PATH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8457151" y="4220202"/>
            <a:ext cx="0" cy="200962"/>
          </a:xfrm>
          <a:prstGeom prst="line">
            <a:avLst/>
          </a:prstGeom>
          <a:noFill/>
          <a:ln w="19050">
            <a:solidFill>
              <a:srgbClr val="1E3A8A"/>
            </a:solidFill>
            <a:prstDash val="dash"/>
          </a:ln>
        </p:spPr>
      </p:sp>
      <p:sp>
        <p:nvSpPr>
          <p:cNvPr id="48" name="Shape 43"/>
          <p:cNvSpPr/>
          <p:nvPr/>
        </p:nvSpPr>
        <p:spPr>
          <a:xfrm>
            <a:off x="8247816" y="3801531"/>
            <a:ext cx="418671" cy="418671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8247816" y="3801531"/>
            <a:ext cx="418671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0" name="Text 45"/>
          <p:cNvSpPr txBox="1"/>
          <p:nvPr/>
        </p:nvSpPr>
        <p:spPr>
          <a:xfrm>
            <a:off x="8909316" y="3784784"/>
            <a:ext cx="2512025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51" name="Text 46"/>
          <p:cNvSpPr txBox="1"/>
          <p:nvPr/>
        </p:nvSpPr>
        <p:spPr>
          <a:xfrm>
            <a:off x="8909316" y="4010867"/>
            <a:ext cx="2595759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Scheme + Report Issue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8457151" y="4839835"/>
            <a:ext cx="0" cy="200962"/>
          </a:xfrm>
          <a:prstGeom prst="line">
            <a:avLst/>
          </a:prstGeom>
          <a:noFill/>
          <a:ln w="19050">
            <a:solidFill>
              <a:srgbClr val="1E3A8A"/>
            </a:solidFill>
            <a:prstDash val="dash"/>
          </a:ln>
        </p:spPr>
      </p:sp>
      <p:sp>
        <p:nvSpPr>
          <p:cNvPr id="53" name="Shape 48"/>
          <p:cNvSpPr/>
          <p:nvPr/>
        </p:nvSpPr>
        <p:spPr>
          <a:xfrm>
            <a:off x="8247816" y="4421164"/>
            <a:ext cx="418671" cy="418671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8247816" y="4421164"/>
            <a:ext cx="418671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5" name="Text 50"/>
          <p:cNvSpPr txBox="1"/>
          <p:nvPr/>
        </p:nvSpPr>
        <p:spPr>
          <a:xfrm>
            <a:off x="8909316" y="4404417"/>
            <a:ext cx="2512025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Haryana pilot</a:t>
            </a:r>
            <a:endParaRPr lang="en-US" sz="1300" dirty="0"/>
          </a:p>
        </p:txBody>
      </p:sp>
      <p:sp>
        <p:nvSpPr>
          <p:cNvPr id="56" name="Text 51"/>
          <p:cNvSpPr txBox="1"/>
          <p:nvPr/>
        </p:nvSpPr>
        <p:spPr>
          <a:xfrm>
            <a:off x="8909316" y="4630500"/>
            <a:ext cx="2595759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services, select districts</a:t>
            </a:r>
            <a:endParaRPr lang="en-US" sz="950" dirty="0"/>
          </a:p>
        </p:txBody>
      </p:sp>
      <p:sp>
        <p:nvSpPr>
          <p:cNvPr id="57" name="Shape 52"/>
          <p:cNvSpPr/>
          <p:nvPr/>
        </p:nvSpPr>
        <p:spPr>
          <a:xfrm>
            <a:off x="8457151" y="5459468"/>
            <a:ext cx="0" cy="200962"/>
          </a:xfrm>
          <a:prstGeom prst="line">
            <a:avLst/>
          </a:prstGeom>
          <a:noFill/>
          <a:ln w="19050">
            <a:solidFill>
              <a:srgbClr val="1E3A8A"/>
            </a:solidFill>
            <a:prstDash val="dash"/>
          </a:ln>
        </p:spPr>
      </p:sp>
      <p:sp>
        <p:nvSpPr>
          <p:cNvPr id="58" name="Shape 53"/>
          <p:cNvSpPr/>
          <p:nvPr/>
        </p:nvSpPr>
        <p:spPr>
          <a:xfrm>
            <a:off x="8247816" y="5040797"/>
            <a:ext cx="418671" cy="418671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9" name="Text 54"/>
          <p:cNvSpPr txBox="1"/>
          <p:nvPr/>
        </p:nvSpPr>
        <p:spPr>
          <a:xfrm>
            <a:off x="8247816" y="5040797"/>
            <a:ext cx="418671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0" name="Text 55"/>
          <p:cNvSpPr txBox="1"/>
          <p:nvPr/>
        </p:nvSpPr>
        <p:spPr>
          <a:xfrm>
            <a:off x="8909316" y="5024050"/>
            <a:ext cx="2512025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61" name="Text 56"/>
          <p:cNvSpPr txBox="1"/>
          <p:nvPr/>
        </p:nvSpPr>
        <p:spPr>
          <a:xfrm>
            <a:off x="8909316" y="5250132"/>
            <a:ext cx="2595759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time saved, gather feedback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8247816" y="5660430"/>
            <a:ext cx="418671" cy="418671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8247816" y="5660430"/>
            <a:ext cx="418671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4" name="Text 59"/>
          <p:cNvSpPr txBox="1"/>
          <p:nvPr/>
        </p:nvSpPr>
        <p:spPr>
          <a:xfrm>
            <a:off x="8909316" y="5643683"/>
            <a:ext cx="2512025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300" dirty="0"/>
          </a:p>
        </p:txBody>
      </p:sp>
      <p:sp>
        <p:nvSpPr>
          <p:cNvPr id="65" name="Text 60"/>
          <p:cNvSpPr txBox="1"/>
          <p:nvPr/>
        </p:nvSpPr>
        <p:spPr>
          <a:xfrm>
            <a:off x="8909316" y="5869765"/>
            <a:ext cx="2595759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departments and states</a:t>
            </a:r>
            <a:endParaRPr lang="en-US" sz="950" dirty="0"/>
          </a:p>
        </p:txBody>
      </p:sp>
      <p:sp>
        <p:nvSpPr>
          <p:cNvPr id="66" name="Text 61"/>
          <p:cNvSpPr txBox="1"/>
          <p:nvPr/>
        </p:nvSpPr>
        <p:spPr>
          <a:xfrm>
            <a:off x="544272" y="6497772"/>
            <a:ext cx="5024050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•  Idea Submission</a:t>
            </a:r>
            <a:endParaRPr lang="en-US" sz="800" dirty="0"/>
          </a:p>
        </p:txBody>
      </p:sp>
      <p:sp>
        <p:nvSpPr>
          <p:cNvPr id="67" name="Text 62"/>
          <p:cNvSpPr txBox="1"/>
          <p:nvPr/>
        </p:nvSpPr>
        <p:spPr>
          <a:xfrm>
            <a:off x="8373417" y="6497772"/>
            <a:ext cx="326563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OVERDRIVE   | 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272" y="368430"/>
            <a:ext cx="5861392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TARGET AUDIENCE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4272" y="669873"/>
            <a:ext cx="7536075" cy="55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4272" y="1256013"/>
            <a:ext cx="8373417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scattered portals and blind waiting to a guided, trackable citizen journey.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01904" y="452165"/>
            <a:ext cx="1381614" cy="334937"/>
          </a:xfrm>
          <a:prstGeom prst="roundRect">
            <a:avLst>
              <a:gd name="adj" fmla="val 54601"/>
            </a:avLst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01904" y="452165"/>
            <a:ext cx="1381614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OVERDRIVE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67252" y="452165"/>
            <a:ext cx="1071797" cy="334937"/>
          </a:xfrm>
          <a:prstGeom prst="roundRect">
            <a:avLst>
              <a:gd name="adj" fmla="val 54601"/>
            </a:avLst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7252" y="452165"/>
            <a:ext cx="1071797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4272" y="1808658"/>
            <a:ext cx="5032424" cy="1683057"/>
          </a:xfrm>
          <a:prstGeom prst="roundRect">
            <a:avLst>
              <a:gd name="adj" fmla="val 5433"/>
            </a:avLst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8728" y="2043114"/>
            <a:ext cx="2679493" cy="75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9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 / 193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778728" y="2830215"/>
            <a:ext cx="2177088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B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rank in the UN E-Government Development Index (2024)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424728" y="2260823"/>
            <a:ext cx="1967753" cy="75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services exist. Simple, guided access is the gap Jan Setu closes.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4272" y="3684303"/>
            <a:ext cx="5032424" cy="1884019"/>
          </a:xfrm>
          <a:prstGeom prst="roundRect">
            <a:avLst>
              <a:gd name="adj" fmla="val 5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8728" y="3876892"/>
            <a:ext cx="2512025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78728" y="4069481"/>
            <a:ext cx="4563512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portals → unclear documents → repeat visits → weak visibility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8728" y="4613753"/>
            <a:ext cx="4563512" cy="0"/>
          </a:xfrm>
          <a:prstGeom prst="line">
            <a:avLst/>
          </a:prstGeom>
          <a:noFill/>
          <a:ln w="12700">
            <a:solidFill>
              <a:srgbClr val="D5DD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8728" y="4781221"/>
            <a:ext cx="2512025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JAN SETU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78728" y="4982183"/>
            <a:ext cx="4563512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point → guided action → submission → live status → escalation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853019" y="1825405"/>
            <a:ext cx="3349367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53019" y="2101728"/>
            <a:ext cx="2821842" cy="954570"/>
          </a:xfrm>
          <a:prstGeom prst="roundRect">
            <a:avLst>
              <a:gd name="adj" fmla="val 114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03740" y="2386424"/>
            <a:ext cx="385177" cy="385177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7738" y="2490422"/>
            <a:ext cx="177182" cy="17718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522892" y="2252449"/>
            <a:ext cx="2009620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522892" y="2486905"/>
            <a:ext cx="2026367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confusion, better preparation, clear status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817208" y="2101728"/>
            <a:ext cx="2821842" cy="954570"/>
          </a:xfrm>
          <a:prstGeom prst="roundRect">
            <a:avLst>
              <a:gd name="adj" fmla="val 114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967930" y="2386424"/>
            <a:ext cx="385177" cy="385177"/>
          </a:xfrm>
          <a:prstGeom prst="ellipse">
            <a:avLst/>
          </a:prstGeom>
          <a:solidFill>
            <a:srgbClr val="138A0A"/>
          </a:solidFill>
          <a:ln w="12700">
            <a:solidFill>
              <a:srgbClr val="138A0A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1927" y="2490422"/>
            <a:ext cx="177182" cy="177182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9487081" y="2252449"/>
            <a:ext cx="2009620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COMMUNITIES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9487081" y="2486905"/>
            <a:ext cx="2026367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local-language access, easy reporting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853019" y="3198645"/>
            <a:ext cx="2821842" cy="954570"/>
          </a:xfrm>
          <a:prstGeom prst="roundRect">
            <a:avLst>
              <a:gd name="adj" fmla="val 114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003740" y="3483341"/>
            <a:ext cx="385177" cy="385177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738" y="3587339"/>
            <a:ext cx="177182" cy="177182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522892" y="3349367"/>
            <a:ext cx="2009620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6522892" y="3583822"/>
            <a:ext cx="2026367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requests, better routing, transparency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8817208" y="3198645"/>
            <a:ext cx="2821842" cy="954570"/>
          </a:xfrm>
          <a:prstGeom prst="roundRect">
            <a:avLst>
              <a:gd name="adj" fmla="val 114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8967930" y="3483341"/>
            <a:ext cx="385177" cy="385177"/>
          </a:xfrm>
          <a:prstGeom prst="ellipse">
            <a:avLst/>
          </a:prstGeom>
          <a:solidFill>
            <a:srgbClr val="2AA8DC"/>
          </a:solidFill>
          <a:ln w="12700">
            <a:solidFill>
              <a:srgbClr val="2AA8DC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927" y="3587339"/>
            <a:ext cx="177182" cy="177182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9487081" y="3349367"/>
            <a:ext cx="2009620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endParaRPr lang="en-US" sz="1100" dirty="0"/>
          </a:p>
        </p:txBody>
      </p:sp>
      <p:sp>
        <p:nvSpPr>
          <p:cNvPr id="39" name="Text 33"/>
          <p:cNvSpPr txBox="1"/>
          <p:nvPr/>
        </p:nvSpPr>
        <p:spPr>
          <a:xfrm>
            <a:off x="9487081" y="3583822"/>
            <a:ext cx="2026367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service layer that scales to new departments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5853019" y="4337430"/>
            <a:ext cx="2512025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5853019" y="4630500"/>
            <a:ext cx="1808658" cy="937823"/>
          </a:xfrm>
          <a:prstGeom prst="roundRect">
            <a:avLst>
              <a:gd name="adj" fmla="val 11700"/>
            </a:avLst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5970246" y="4730981"/>
            <a:ext cx="284696" cy="284696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7114" y="4807849"/>
            <a:ext cx="130960" cy="130960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6338677" y="4730981"/>
            <a:ext cx="1256013" cy="2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050" dirty="0"/>
          </a:p>
        </p:txBody>
      </p:sp>
      <p:sp>
        <p:nvSpPr>
          <p:cNvPr id="45" name="Text 38"/>
          <p:cNvSpPr txBox="1"/>
          <p:nvPr/>
        </p:nvSpPr>
        <p:spPr>
          <a:xfrm>
            <a:off x="5970246" y="5091038"/>
            <a:ext cx="1607696" cy="43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for rural and first-time digital users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7787278" y="4630500"/>
            <a:ext cx="1808658" cy="937823"/>
          </a:xfrm>
          <a:prstGeom prst="roundRect">
            <a:avLst>
              <a:gd name="adj" fmla="val 11700"/>
            </a:avLst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7904506" y="4730981"/>
            <a:ext cx="284696" cy="284696"/>
          </a:xfrm>
          <a:prstGeom prst="ellipse">
            <a:avLst/>
          </a:prstGeom>
          <a:solidFill>
            <a:srgbClr val="138A0A"/>
          </a:solidFill>
          <a:ln w="12700">
            <a:solidFill>
              <a:srgbClr val="138A0A"/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1374" y="4807849"/>
            <a:ext cx="130960" cy="13096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8272936" y="4730981"/>
            <a:ext cx="1256013" cy="2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050" dirty="0"/>
          </a:p>
        </p:txBody>
      </p:sp>
      <p:sp>
        <p:nvSpPr>
          <p:cNvPr id="50" name="Text 42"/>
          <p:cNvSpPr txBox="1"/>
          <p:nvPr/>
        </p:nvSpPr>
        <p:spPr>
          <a:xfrm>
            <a:off x="7904506" y="5091038"/>
            <a:ext cx="1607696" cy="43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repeat visits, saved travel, less agent dependence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9721537" y="4630500"/>
            <a:ext cx="1808658" cy="937823"/>
          </a:xfrm>
          <a:prstGeom prst="roundRect">
            <a:avLst>
              <a:gd name="adj" fmla="val 11700"/>
            </a:avLst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9838765" y="4730981"/>
            <a:ext cx="284696" cy="284696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5633" y="4807849"/>
            <a:ext cx="130960" cy="130960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10207195" y="4730981"/>
            <a:ext cx="1256013" cy="2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050" dirty="0"/>
          </a:p>
        </p:txBody>
      </p:sp>
      <p:sp>
        <p:nvSpPr>
          <p:cNvPr id="55" name="Text 46"/>
          <p:cNvSpPr txBox="1"/>
          <p:nvPr/>
        </p:nvSpPr>
        <p:spPr>
          <a:xfrm>
            <a:off x="9838765" y="5091038"/>
            <a:ext cx="1607696" cy="43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flow, fewer trips, less printing</a:t>
            </a:r>
            <a:endParaRPr lang="en-US" sz="1000" dirty="0"/>
          </a:p>
        </p:txBody>
      </p:sp>
      <p:sp>
        <p:nvSpPr>
          <p:cNvPr id="56" name="Text 47"/>
          <p:cNvSpPr txBox="1"/>
          <p:nvPr/>
        </p:nvSpPr>
        <p:spPr>
          <a:xfrm>
            <a:off x="544272" y="5760911"/>
            <a:ext cx="418670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MEASURES FOR THE PILOT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544272" y="5961873"/>
            <a:ext cx="2612506" cy="351684"/>
          </a:xfrm>
          <a:prstGeom prst="roundRect">
            <a:avLst>
              <a:gd name="adj" fmla="val 520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8" name="Shape 49"/>
          <p:cNvSpPr/>
          <p:nvPr/>
        </p:nvSpPr>
        <p:spPr>
          <a:xfrm>
            <a:off x="678247" y="6079101"/>
            <a:ext cx="125601" cy="125601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912702" y="5961873"/>
            <a:ext cx="2193835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time</a:t>
            </a:r>
            <a:endParaRPr lang="en-US" sz="1050" dirty="0"/>
          </a:p>
        </p:txBody>
      </p:sp>
      <p:sp>
        <p:nvSpPr>
          <p:cNvPr id="60" name="Shape 51"/>
          <p:cNvSpPr/>
          <p:nvPr/>
        </p:nvSpPr>
        <p:spPr>
          <a:xfrm>
            <a:off x="3374487" y="5961873"/>
            <a:ext cx="2612506" cy="351684"/>
          </a:xfrm>
          <a:prstGeom prst="roundRect">
            <a:avLst>
              <a:gd name="adj" fmla="val 520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1" name="Shape 52"/>
          <p:cNvSpPr/>
          <p:nvPr/>
        </p:nvSpPr>
        <p:spPr>
          <a:xfrm>
            <a:off x="3508462" y="6079101"/>
            <a:ext cx="125601" cy="125601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3742917" y="5961873"/>
            <a:ext cx="2193835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readiness</a:t>
            </a:r>
            <a:endParaRPr lang="en-US" sz="1050" dirty="0"/>
          </a:p>
        </p:txBody>
      </p:sp>
      <p:sp>
        <p:nvSpPr>
          <p:cNvPr id="63" name="Shape 54"/>
          <p:cNvSpPr/>
          <p:nvPr/>
        </p:nvSpPr>
        <p:spPr>
          <a:xfrm>
            <a:off x="6204702" y="5961873"/>
            <a:ext cx="2612506" cy="351684"/>
          </a:xfrm>
          <a:prstGeom prst="roundRect">
            <a:avLst>
              <a:gd name="adj" fmla="val 520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4" name="Shape 55"/>
          <p:cNvSpPr/>
          <p:nvPr/>
        </p:nvSpPr>
        <p:spPr>
          <a:xfrm>
            <a:off x="6338677" y="6079101"/>
            <a:ext cx="125601" cy="125601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65" name="Text 56"/>
          <p:cNvSpPr txBox="1"/>
          <p:nvPr/>
        </p:nvSpPr>
        <p:spPr>
          <a:xfrm>
            <a:off x="6573132" y="5961873"/>
            <a:ext cx="2193835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Issue-resolution visibility</a:t>
            </a:r>
            <a:endParaRPr lang="en-US" sz="1050" dirty="0"/>
          </a:p>
        </p:txBody>
      </p:sp>
      <p:sp>
        <p:nvSpPr>
          <p:cNvPr id="66" name="Shape 57"/>
          <p:cNvSpPr/>
          <p:nvPr/>
        </p:nvSpPr>
        <p:spPr>
          <a:xfrm>
            <a:off x="9026544" y="5961873"/>
            <a:ext cx="2612506" cy="351684"/>
          </a:xfrm>
          <a:prstGeom prst="roundRect">
            <a:avLst>
              <a:gd name="adj" fmla="val 520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7" name="Shape 58"/>
          <p:cNvSpPr/>
          <p:nvPr/>
        </p:nvSpPr>
        <p:spPr>
          <a:xfrm>
            <a:off x="9160518" y="6079101"/>
            <a:ext cx="125601" cy="125601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68" name="Text 59"/>
          <p:cNvSpPr txBox="1"/>
          <p:nvPr/>
        </p:nvSpPr>
        <p:spPr>
          <a:xfrm>
            <a:off x="9394974" y="5961873"/>
            <a:ext cx="2193835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comprehension &amp; satisfaction</a:t>
            </a:r>
            <a:endParaRPr lang="en-US" sz="1050" dirty="0"/>
          </a:p>
        </p:txBody>
      </p:sp>
      <p:sp>
        <p:nvSpPr>
          <p:cNvPr id="69" name="Text 60"/>
          <p:cNvSpPr txBox="1"/>
          <p:nvPr/>
        </p:nvSpPr>
        <p:spPr>
          <a:xfrm>
            <a:off x="544272" y="6497772"/>
            <a:ext cx="5024050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•  Idea Submission</a:t>
            </a:r>
            <a:endParaRPr lang="en-US" sz="800" dirty="0"/>
          </a:p>
        </p:txBody>
      </p:sp>
      <p:sp>
        <p:nvSpPr>
          <p:cNvPr id="70" name="Text 61"/>
          <p:cNvSpPr txBox="1"/>
          <p:nvPr/>
        </p:nvSpPr>
        <p:spPr>
          <a:xfrm>
            <a:off x="8373417" y="6497772"/>
            <a:ext cx="326563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OVERDRIVE   | 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272" y="368430"/>
            <a:ext cx="5861392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RESEARCH BASIS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4272" y="669873"/>
            <a:ext cx="7536075" cy="55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4272" y="1256013"/>
            <a:ext cx="8373417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today, and the gap Jan Setu closes.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01904" y="452165"/>
            <a:ext cx="1381614" cy="334937"/>
          </a:xfrm>
          <a:prstGeom prst="roundRect">
            <a:avLst>
              <a:gd name="adj" fmla="val 54601"/>
            </a:avLst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01904" y="452165"/>
            <a:ext cx="1381614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OVERDRIVE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67252" y="452165"/>
            <a:ext cx="1071797" cy="334937"/>
          </a:xfrm>
          <a:prstGeom prst="roundRect">
            <a:avLst>
              <a:gd name="adj" fmla="val 54601"/>
            </a:avLst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67252" y="452165"/>
            <a:ext cx="1071797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4272" y="1858899"/>
            <a:ext cx="3349367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STUDIED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4272" y="2101728"/>
            <a:ext cx="6949936" cy="343310"/>
          </a:xfrm>
          <a:prstGeom prst="roundRect">
            <a:avLst>
              <a:gd name="adj" fmla="val 39952"/>
            </a:avLst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8487" y="2101728"/>
            <a:ext cx="1674683" cy="34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512025" y="2101728"/>
            <a:ext cx="2009620" cy="34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747727" y="2101728"/>
            <a:ext cx="2512025" cy="34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JAN SETU ADDS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272" y="2545519"/>
            <a:ext cx="6949936" cy="669873"/>
          </a:xfrm>
          <a:prstGeom prst="roundRect">
            <a:avLst>
              <a:gd name="adj" fmla="val 163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28487" y="2545519"/>
            <a:ext cx="1674683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CPGRAMS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512025" y="2545519"/>
            <a:ext cx="2009620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public grievance filing and tracking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747727" y="2545519"/>
            <a:ext cx="2595759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discovery, document checklist and auto-escalation in one flow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4272" y="3299126"/>
            <a:ext cx="6949936" cy="669873"/>
          </a:xfrm>
          <a:prstGeom prst="roundRect">
            <a:avLst>
              <a:gd name="adj" fmla="val 163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28487" y="3299126"/>
            <a:ext cx="1674683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MyScheme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512025" y="3299126"/>
            <a:ext cx="2009620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discovery and eligibility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747727" y="3299126"/>
            <a:ext cx="2595759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reporting, request tracking and escalation after discovery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4272" y="4052734"/>
            <a:ext cx="6949936" cy="669873"/>
          </a:xfrm>
          <a:prstGeom prst="roundRect">
            <a:avLst>
              <a:gd name="adj" fmla="val 163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28487" y="4052734"/>
            <a:ext cx="1674683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Window (Haryana)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512025" y="4052734"/>
            <a:ext cx="2009620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grievance redressal and monitoring, since 2014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747727" y="4052734"/>
            <a:ext cx="2595759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Voice-first, multilingual guidance across schemes, documents and grievances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4272" y="4806341"/>
            <a:ext cx="6949936" cy="669873"/>
          </a:xfrm>
          <a:prstGeom prst="roundRect">
            <a:avLst>
              <a:gd name="adj" fmla="val 163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28487" y="4806341"/>
            <a:ext cx="1674683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UMANG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512025" y="4806341"/>
            <a:ext cx="2009620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aggregating many government services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747727" y="4806341"/>
            <a:ext cx="2595759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intent understanding and proactive follow-up on every request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4272" y="5626936"/>
            <a:ext cx="3349367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APPROACH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4272" y="5844645"/>
            <a:ext cx="1641190" cy="418671"/>
          </a:xfrm>
          <a:prstGeom prst="roundRect">
            <a:avLst>
              <a:gd name="adj" fmla="val 546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44272" y="5844645"/>
            <a:ext cx="1641190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User-centred design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311063" y="5844645"/>
            <a:ext cx="1641190" cy="418671"/>
          </a:xfrm>
          <a:prstGeom prst="roundRect">
            <a:avLst>
              <a:gd name="adj" fmla="val 546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2311063" y="5844645"/>
            <a:ext cx="1641190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prototyping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77854" y="5844645"/>
            <a:ext cx="1641190" cy="418671"/>
          </a:xfrm>
          <a:prstGeom prst="roundRect">
            <a:avLst>
              <a:gd name="adj" fmla="val 546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4077854" y="5844645"/>
            <a:ext cx="1641190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Public-service design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44645" y="5844645"/>
            <a:ext cx="1641190" cy="418671"/>
          </a:xfrm>
          <a:prstGeom prst="roundRect">
            <a:avLst>
              <a:gd name="adj" fmla="val 546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5844645" y="5844645"/>
            <a:ext cx="1641190" cy="41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feedback loops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770531" y="1808658"/>
            <a:ext cx="3868519" cy="4454658"/>
          </a:xfrm>
          <a:prstGeom prst="roundRect">
            <a:avLst>
              <a:gd name="adj" fmla="val 1891"/>
            </a:avLst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38480" y="2017994"/>
            <a:ext cx="3349367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9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LINKS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38480" y="2436664"/>
            <a:ext cx="117228" cy="117228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98056" y="2378050"/>
            <a:ext cx="3181898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8298056" y="2595759"/>
            <a:ext cx="3181898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9DB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sih.gov.in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38480" y="2897202"/>
            <a:ext cx="117228" cy="117228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98056" y="2838588"/>
            <a:ext cx="3181898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CPGRAMS grievance portal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8298056" y="3056297"/>
            <a:ext cx="3181898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9DB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pgportal.gov.in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038480" y="3357740"/>
            <a:ext cx="117228" cy="117228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298056" y="3299126"/>
            <a:ext cx="3181898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MyScheme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8298056" y="3516835"/>
            <a:ext cx="3181898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9DB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myscheme.gov.in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038480" y="3818278"/>
            <a:ext cx="117228" cy="117228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298056" y="3759664"/>
            <a:ext cx="3181898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Haryana Govt. / CM Window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8298056" y="3977373"/>
            <a:ext cx="3181898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9DB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haryana.gov.in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038480" y="4278816"/>
            <a:ext cx="117228" cy="117228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298056" y="4220202"/>
            <a:ext cx="3181898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UMANG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8298056" y="4437911"/>
            <a:ext cx="3181898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9DB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umang.gov.in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038480" y="4739354"/>
            <a:ext cx="117228" cy="117228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98056" y="4680740"/>
            <a:ext cx="3181898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(Indian-language APIs)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8298056" y="4898449"/>
            <a:ext cx="3181898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9DB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bhashini.gov.in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038480" y="5199892"/>
            <a:ext cx="117228" cy="117228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298056" y="5141278"/>
            <a:ext cx="3181898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E-Government Survey 2024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8298056" y="5358987"/>
            <a:ext cx="3181898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9DB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publicadministration.un.org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038480" y="5660430"/>
            <a:ext cx="117228" cy="117228"/>
          </a:xfrm>
          <a:prstGeom prst="ellipse">
            <a:avLst/>
          </a:prstGeom>
          <a:solidFill>
            <a:srgbClr val="FF9A33"/>
          </a:solidFill>
          <a:ln w="12700">
            <a:solidFill>
              <a:srgbClr val="FF9A33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298056" y="5601816"/>
            <a:ext cx="3181898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docs: React, Supabase, Claude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8298056" y="5819525"/>
            <a:ext cx="3181898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9DB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react.dev • supabase.com/docs • docs.claude.com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544272" y="6497772"/>
            <a:ext cx="5024050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•  Idea Submission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8373417" y="6497772"/>
            <a:ext cx="326563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OVERDRIVE   |  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 Setu - SIH 2026</dc:title>
  <dc:subject>PptxGenJS Presentation</dc:subject>
  <dc:creator>LOGIC OVERDRIVE</dc:creator>
  <cp:lastModifiedBy>LOGIC OVERDRIVE</cp:lastModifiedBy>
  <cp:revision>1</cp:revision>
  <dcterms:created xsi:type="dcterms:W3CDTF">2026-09-20T13:04:47Z</dcterms:created>
  <dcterms:modified xsi:type="dcterms:W3CDTF">2026-09-20T13:04:47Z</dcterms:modified>
</cp:coreProperties>
</file>